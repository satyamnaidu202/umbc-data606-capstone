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3A5F"/>
                </a:solidFill>
                <a:latin typeface="Arial"/>
              </a:rPr>
              <a:t>Cancellation Rate by Hotel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1A8C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88-42A4-96D9-328EFB37504B}"/>
              </c:ext>
            </c:extLst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88-42A4-96D9-328EFB37504B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88-42A4-96D9-328EFB37504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Resort Hotel</c:v>
                </c:pt>
                <c:pt idx="1">
                  <c:v>City Hotel</c:v>
                </c:pt>
                <c:pt idx="2">
                  <c:v>Overall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27.8</c:v>
                </c:pt>
                <c:pt idx="1">
                  <c:v>41.7</c:v>
                </c:pt>
                <c:pt idx="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88-42A4-96D9-328EFB3750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5F"/>
                </a:solidFill>
                <a:latin typeface="Arial"/>
              </a:rPr>
              <a:t>Avg Lead Time: Cancelled vs Not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Lead Time (days)</c:v>
                </c:pt>
              </c:strCache>
            </c:strRef>
          </c:tx>
          <c:spPr>
            <a:solidFill>
              <a:srgbClr val="1A8C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B4-45A5-B160-9DF1B0B0991A}"/>
              </c:ext>
            </c:extLst>
          </c:dPt>
          <c:dPt>
            <c:idx val="1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B4-45A5-B160-9DF1B0B099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Cancelled</c:v>
                </c:pt>
                <c:pt idx="1">
                  <c:v>Cancelled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B4-45A5-B160-9DF1B0B099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5F"/>
                </a:solidFill>
                <a:latin typeface="Arial"/>
              </a:rPr>
              <a:t>Cancellation Rate by Deposit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1A8C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4E-40B4-9382-6F573FC19CE1}"/>
              </c:ext>
            </c:extLst>
          </c:dPt>
          <c:dPt>
            <c:idx val="1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4E-40B4-9382-6F573FC19CE1}"/>
              </c:ext>
            </c:extLst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4E-40B4-9382-6F573FC19CE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Deposit</c:v>
                </c:pt>
                <c:pt idx="1">
                  <c:v>Non Refund</c:v>
                </c:pt>
                <c:pt idx="2">
                  <c:v>Refundable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99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4E-40B4-9382-6F573FC19C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5F"/>
                </a:solidFill>
                <a:latin typeface="Arial"/>
              </a:rPr>
              <a:t>Cancellation Rate by # Special Requests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ln w="38100" cap="flat">
              <a:solidFill>
                <a:srgbClr val="1A8C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8C8A"/>
              </a:solidFill>
              <a:ln w="9525" cap="flat">
                <a:solidFill>
                  <a:srgbClr val="1A8C8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</c:v>
                </c:pt>
                <c:pt idx="1">
                  <c:v>30</c:v>
                </c:pt>
                <c:pt idx="2">
                  <c:v>18</c:v>
                </c:pt>
                <c:pt idx="3">
                  <c:v>9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48-4999-9DAD-1F1CBE5CD8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3A5F"/>
                </a:solidFill>
                <a:latin typeface="Arial"/>
              </a:rPr>
              <a:t>Accuracy &amp; F1-Score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8C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Decision Tree</c:v>
                </c:pt>
                <c:pt idx="2">
                  <c:v>KNN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79.8</c:v>
                </c:pt>
                <c:pt idx="1">
                  <c:v>81.400000000000006</c:v>
                </c:pt>
                <c:pt idx="2">
                  <c:v>82.1</c:v>
                </c:pt>
                <c:pt idx="3">
                  <c:v>87.3</c:v>
                </c:pt>
                <c:pt idx="4">
                  <c:v>89.6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EC-489B-9418-5CA2C0C693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Decision Tree</c:v>
                </c:pt>
                <c:pt idx="2">
                  <c:v>KNN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75.099999999999994</c:v>
                </c:pt>
                <c:pt idx="1">
                  <c:v>78.900000000000006</c:v>
                </c:pt>
                <c:pt idx="2">
                  <c:v>78.7</c:v>
                </c:pt>
                <c:pt idx="3">
                  <c:v>85.5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EC-489B-9418-5CA2C0C693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3A5F"/>
                </a:solidFill>
                <a:latin typeface="Arial"/>
              </a:rPr>
              <a:t>Top 10 Predictors of Cancellation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1A8C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customer_type_Transient</c:v>
                </c:pt>
                <c:pt idx="1">
                  <c:v>country_PRT</c:v>
                </c:pt>
                <c:pt idx="2">
                  <c:v>booking_changes</c:v>
                </c:pt>
                <c:pt idx="3">
                  <c:v>total_nights</c:v>
                </c:pt>
                <c:pt idx="4">
                  <c:v>market_seg_Online TA</c:v>
                </c:pt>
                <c:pt idx="5">
                  <c:v>previous_cancellations</c:v>
                </c:pt>
                <c:pt idx="6">
                  <c:v>special_requests</c:v>
                </c:pt>
                <c:pt idx="7">
                  <c:v>adr</c:v>
                </c:pt>
                <c:pt idx="8">
                  <c:v>deposit_NonRefund</c:v>
                </c:pt>
                <c:pt idx="9">
                  <c:v>lead_time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3.7999999999999999E-2</c:v>
                </c:pt>
                <c:pt idx="1">
                  <c:v>4.2000000000000003E-2</c:v>
                </c:pt>
                <c:pt idx="2">
                  <c:v>5.0999999999999997E-2</c:v>
                </c:pt>
                <c:pt idx="3">
                  <c:v>5.8000000000000003E-2</c:v>
                </c:pt>
                <c:pt idx="4">
                  <c:v>6.5000000000000002E-2</c:v>
                </c:pt>
                <c:pt idx="5">
                  <c:v>7.1999999999999995E-2</c:v>
                </c:pt>
                <c:pt idx="6">
                  <c:v>8.8999999999999996E-2</c:v>
                </c:pt>
                <c:pt idx="7">
                  <c:v>0.10100000000000001</c:v>
                </c:pt>
                <c:pt idx="8">
                  <c:v>0.11799999999999999</c:v>
                </c:pt>
                <c:pt idx="9">
                  <c:v>0.19500000000000001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D4-4398-878D-255B74CBBB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87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Prediction System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UMBC Data Science Master Degree Capstone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Dr. Chaojie (Jay) Wang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[Kalla Shankar Ram Satyam Naidu]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023360" cy="100584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3444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3444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100584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10515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2356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4023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2356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Demo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4023360" cy="100584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62356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120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cancellation rates have surged to 40%+ industry-wide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cause revenue loss, poor resource planning, and inefficient staffing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currently lack real-time, data-driven tools to flag high-risk bookings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prediction enables proactive retention strategies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960120"/>
            <a:ext cx="2834640" cy="3840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booking attributes predict cancellations?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are strongest predictors?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ML model performs best?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deploy as a usable web app?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146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005840"/>
            <a:ext cx="192024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294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Antonio, de Almeida &amp; Nunes (2019) — Data in Brief journal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hotels in Portugal: Resort Hotel &amp; City Hotel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on Kaggle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hotel_bookings.csv (~4.6 MB)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834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is_canceled: binary (0 = kept, 1 = cancelled)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Not Cancelled vs 37% Cancelled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class imbalance — managed with balanced weights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unique booking reservation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Data Dictionary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49808"/>
          </a:xfrm>
          <a:prstGeom prst="rect">
            <a:avLst/>
          </a:prstGeom>
          <a:solidFill>
            <a:srgbClr val="D8EAF5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" cy="749808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booking to arrival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749808"/>
          </a:xfrm>
          <a:prstGeom prst="rect">
            <a:avLst/>
          </a:prstGeom>
          <a:solidFill>
            <a:srgbClr val="D8EAF5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82296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65192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deposit_type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Deposit / Non Refund / Refundable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2296" cy="749808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Rate (€)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8745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00600" y="1874520"/>
            <a:ext cx="82296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6519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market_segment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OTA, Direct, Corporate, Group...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4114800" cy="749808"/>
          </a:xfrm>
          <a:prstGeom prst="rect">
            <a:avLst/>
          </a:prstGeom>
          <a:solidFill>
            <a:srgbClr val="D8EAF5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" cy="749808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total_special_requests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special requests (0–5)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743200"/>
            <a:ext cx="4114800" cy="749808"/>
          </a:xfrm>
          <a:prstGeom prst="rect">
            <a:avLst/>
          </a:prstGeom>
          <a:solidFill>
            <a:srgbClr val="D8EAF5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00600" y="2743200"/>
            <a:ext cx="82296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65192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previous_cancellations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cancellations by guest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82296" cy="749808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customer_type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/ Contract / Group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6118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611880"/>
            <a:ext cx="82296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booking_changes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65192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amendments made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(4) → 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(94%) → dropped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(16K) → 'No Agent'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(488) → 'Unknown'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65960" cy="379476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659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554480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31,994 exact duplicate rows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raw dataset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87,396 unique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6596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659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ADR: removed −6.38 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5,400 extreme outliers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Zero-adult bookings: 180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removed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1965960" cy="379476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9659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0372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1554480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total_nights created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arrival_month_num encoded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room_mismatch binary flag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categoricals label-encoded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Cancellation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3017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80644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46304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cancels 50% more often than Resort Hotel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Travel Agent bookings: ~36% cancellation rate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bookings: highest at ~61%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cancellation months: July–August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cancellations occur 60–180 days before arrival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Lead Time &amp; Deposit Type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6012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Special Requests &amp; Previous Cancellations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with 0 special requests cancel 43% of the time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with 3+ requests cancel less than 10% — they are committed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 signal intent and investment in the trip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with prior cancellations cancel 85%+ in the future — strong behavioral signal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features are among the top 5 most important in the final model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(stratified)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Logistic Regression &amp; KNN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for imbalance handling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for hyperparameter tuning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| scikit-learn, xgboost, pandas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960120"/>
            <a:ext cx="3474720" cy="3840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4630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 Best Model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74320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35040" y="21305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21305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35040" y="2706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270662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5040" y="3282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3282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35040" y="3858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0" y="3858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(XGBoost)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96012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67512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0" y="146304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lead_time: #1 predictor by large margin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Non-Refund deposits: high risk signal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ADR: pricing sensitivity matters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requests: guests with more are less likely to cancel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cancellations: strong behavioral pattern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3840480"/>
          </a:xfrm>
          <a:prstGeom prst="rect">
            <a:avLst/>
          </a:prstGeom>
          <a:solidFill>
            <a:srgbClr val="111E2E"/>
          </a:solidFill>
          <a:ln w="12700">
            <a:solidFill>
              <a:srgbClr val="333333"/>
            </a:solidFill>
            <a:prstDash val="solid"/>
          </a:ln>
          <a:effectLst>
            <a:outerShdw blurRad="762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Hotel Cancellation Predictor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4630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371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Type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 Req.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463040"/>
            <a:ext cx="3291840" cy="1280160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168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Probability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2011680" y="2880360"/>
            <a:ext cx="32918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1168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RISK BOOKING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Contributions 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960120"/>
            <a:ext cx="3017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5216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146304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probability score (0–100%)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tier: Low / Medium / High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for explainability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upload &amp; download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+ XGBoost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Cloud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 accuracy with XGBoost (AUC 0.956)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lead_time &amp; deposit_type as top drivers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Streamlit prediction app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data → deployed model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enhance stakeholder trust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2 Portuguese hotels (2015–17)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model — does not learn in real-time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incorporate pricing or competitor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840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modeling (LSTM) for temporal patterns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for real-time model updates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Revenue Management Systems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generalization study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transformers for complex interactions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overbooking decision engine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36576"/>
          </a:xfrm>
          <a:prstGeom prst="rect">
            <a:avLst/>
          </a:prstGeom>
          <a:solidFill>
            <a:srgbClr val="1A8C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0" y="26060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6060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Cancellation Prediction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95351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95351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3009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3009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64845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UMBC Data Science Capstone  |  Dr. Chaojie (Jay) Wang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924</Words>
  <Application>Microsoft Office PowerPoint</Application>
  <PresentationFormat>On-screen Show (16:9)</PresentationFormat>
  <Paragraphs>218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Prediction System</dc:title>
  <dc:subject>PptxGenJS Presentation</dc:subject>
  <dc:creator>PptxGenJS</dc:creator>
  <cp:lastModifiedBy>Shankar Ram Satyam Naidu Kalla</cp:lastModifiedBy>
  <cp:revision>2</cp:revision>
  <dcterms:created xsi:type="dcterms:W3CDTF">2026-04-23T06:38:00Z</dcterms:created>
  <dcterms:modified xsi:type="dcterms:W3CDTF">2026-04-23T16:59:06Z</dcterms:modified>
</cp:coreProperties>
</file>